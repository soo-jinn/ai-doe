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PH" sz="1100" b="0" i="0" u="none" strike="noStrike">
                <a:solidFill>
                  <a:srgbClr val="1B3A5C"/>
                </a:solidFill>
                <a:latin typeface="Arial"/>
              </a:rPr>
              <a:t>Images per Class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0096B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art.truck</c:v>
                </c:pt>
                <c:pt idx="1">
                  <c:v>background</c:v>
                </c:pt>
                <c:pt idx="2">
                  <c:v>bicycle</c:v>
                </c:pt>
                <c:pt idx="3">
                  <c:v>bus</c:v>
                </c:pt>
                <c:pt idx="4">
                  <c:v>car</c:v>
                </c:pt>
                <c:pt idx="5">
                  <c:v>motorcycle</c:v>
                </c:pt>
                <c:pt idx="6">
                  <c:v>non-motor.</c:v>
                </c:pt>
                <c:pt idx="7">
                  <c:v>pedestrian</c:v>
                </c:pt>
                <c:pt idx="8">
                  <c:v>pickup.trk</c:v>
                </c:pt>
                <c:pt idx="9">
                  <c:v>su.truck</c:v>
                </c:pt>
                <c:pt idx="10">
                  <c:v>work.van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4991</c:v>
                </c:pt>
                <c:pt idx="1">
                  <c:v>7296</c:v>
                </c:pt>
                <c:pt idx="2">
                  <c:v>2284</c:v>
                </c:pt>
                <c:pt idx="3">
                  <c:v>5102</c:v>
                </c:pt>
                <c:pt idx="4">
                  <c:v>6268</c:v>
                </c:pt>
                <c:pt idx="5">
                  <c:v>1982</c:v>
                </c:pt>
                <c:pt idx="6">
                  <c:v>1751</c:v>
                </c:pt>
                <c:pt idx="7">
                  <c:v>6262</c:v>
                </c:pt>
                <c:pt idx="8">
                  <c:v>6290</c:v>
                </c:pt>
                <c:pt idx="9">
                  <c:v>5120</c:v>
                </c:pt>
                <c:pt idx="10">
                  <c:v>5455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11-4D1F-9CDB-F23CDAE392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PH" sz="1100" b="0" i="0" u="none" strike="noStrike">
                <a:solidFill>
                  <a:srgbClr val="1B3A5C"/>
                </a:solidFill>
                <a:latin typeface="Arial"/>
              </a:rPr>
              <a:t>Accuracy per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 cap="flat">
              <a:solidFill>
                <a:srgbClr val="0D1B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1B2A"/>
              </a:solidFill>
              <a:ln w="9525" cap="flat">
                <a:solidFill>
                  <a:srgbClr val="0D1B2A"/>
                </a:solidFill>
                <a:prstDash val="solid"/>
                <a:round/>
              </a:ln>
              <a:effectLst/>
            </c:spPr>
          </c:marker>
          <c:cat>
            <c:strRef>
              <c:f>Sheet1!$A$2:$A$39</c:f>
              <c:strCach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</c:strCache>
            </c:str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0.57999999999999996</c:v>
                </c:pt>
                <c:pt idx="1">
                  <c:v>0.65</c:v>
                </c:pt>
                <c:pt idx="2">
                  <c:v>0.66</c:v>
                </c:pt>
                <c:pt idx="3">
                  <c:v>0.67</c:v>
                </c:pt>
                <c:pt idx="4">
                  <c:v>0.67</c:v>
                </c:pt>
                <c:pt idx="5">
                  <c:v>0.67</c:v>
                </c:pt>
                <c:pt idx="6">
                  <c:v>0.67</c:v>
                </c:pt>
                <c:pt idx="7">
                  <c:v>0.67</c:v>
                </c:pt>
                <c:pt idx="8">
                  <c:v>0.68</c:v>
                </c:pt>
                <c:pt idx="9">
                  <c:v>0.69</c:v>
                </c:pt>
                <c:pt idx="10">
                  <c:v>0.69</c:v>
                </c:pt>
                <c:pt idx="11">
                  <c:v>0.68</c:v>
                </c:pt>
                <c:pt idx="12">
                  <c:v>0.69</c:v>
                </c:pt>
                <c:pt idx="13">
                  <c:v>0.69</c:v>
                </c:pt>
                <c:pt idx="14">
                  <c:v>0.69</c:v>
                </c:pt>
                <c:pt idx="15">
                  <c:v>0.69</c:v>
                </c:pt>
                <c:pt idx="16">
                  <c:v>0.69</c:v>
                </c:pt>
                <c:pt idx="17">
                  <c:v>0.7</c:v>
                </c:pt>
                <c:pt idx="18">
                  <c:v>0.61</c:v>
                </c:pt>
                <c:pt idx="19">
                  <c:v>0.67</c:v>
                </c:pt>
                <c:pt idx="20">
                  <c:v>0.7</c:v>
                </c:pt>
                <c:pt idx="21">
                  <c:v>0.72</c:v>
                </c:pt>
                <c:pt idx="22">
                  <c:v>0.74</c:v>
                </c:pt>
                <c:pt idx="23">
                  <c:v>0.75</c:v>
                </c:pt>
                <c:pt idx="24">
                  <c:v>0.76</c:v>
                </c:pt>
                <c:pt idx="25">
                  <c:v>0.77</c:v>
                </c:pt>
                <c:pt idx="26">
                  <c:v>0.78</c:v>
                </c:pt>
                <c:pt idx="27">
                  <c:v>0.79</c:v>
                </c:pt>
                <c:pt idx="28">
                  <c:v>0.8</c:v>
                </c:pt>
                <c:pt idx="29">
                  <c:v>0.81</c:v>
                </c:pt>
                <c:pt idx="30">
                  <c:v>0.81</c:v>
                </c:pt>
                <c:pt idx="31">
                  <c:v>0.82</c:v>
                </c:pt>
                <c:pt idx="32">
                  <c:v>0.82</c:v>
                </c:pt>
                <c:pt idx="33">
                  <c:v>0.82</c:v>
                </c:pt>
                <c:pt idx="34">
                  <c:v>0.83</c:v>
                </c:pt>
                <c:pt idx="35">
                  <c:v>0.83</c:v>
                </c:pt>
                <c:pt idx="36">
                  <c:v>0.84</c:v>
                </c:pt>
                <c:pt idx="37">
                  <c:v>0.84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205-4186-895A-B255193FA6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Sheet1!$A$2:$A$39</c:f>
              <c:strCach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</c:strCache>
            </c:strRef>
          </c:cat>
          <c:val>
            <c:numRef>
              <c:f>Sheet1!$C$2:$C$39</c:f>
              <c:numCache>
                <c:formatCode>General</c:formatCode>
                <c:ptCount val="38"/>
                <c:pt idx="0">
                  <c:v>0.69</c:v>
                </c:pt>
                <c:pt idx="1">
                  <c:v>0.7</c:v>
                </c:pt>
                <c:pt idx="2">
                  <c:v>0.71</c:v>
                </c:pt>
                <c:pt idx="3">
                  <c:v>0.72</c:v>
                </c:pt>
                <c:pt idx="4">
                  <c:v>0.72</c:v>
                </c:pt>
                <c:pt idx="5">
                  <c:v>0.72</c:v>
                </c:pt>
                <c:pt idx="6">
                  <c:v>0.7</c:v>
                </c:pt>
                <c:pt idx="7">
                  <c:v>0.71</c:v>
                </c:pt>
                <c:pt idx="8">
                  <c:v>0.71</c:v>
                </c:pt>
                <c:pt idx="9">
                  <c:v>0.73</c:v>
                </c:pt>
                <c:pt idx="10">
                  <c:v>0.7</c:v>
                </c:pt>
                <c:pt idx="11">
                  <c:v>0.74</c:v>
                </c:pt>
                <c:pt idx="12">
                  <c:v>0.7</c:v>
                </c:pt>
                <c:pt idx="13">
                  <c:v>0.73</c:v>
                </c:pt>
                <c:pt idx="14">
                  <c:v>0.73</c:v>
                </c:pt>
                <c:pt idx="15">
                  <c:v>0.72</c:v>
                </c:pt>
                <c:pt idx="16">
                  <c:v>0.73</c:v>
                </c:pt>
                <c:pt idx="17">
                  <c:v>0.73</c:v>
                </c:pt>
                <c:pt idx="18">
                  <c:v>0.73</c:v>
                </c:pt>
                <c:pt idx="19">
                  <c:v>0.74</c:v>
                </c:pt>
                <c:pt idx="20">
                  <c:v>0.76</c:v>
                </c:pt>
                <c:pt idx="21">
                  <c:v>0.77</c:v>
                </c:pt>
                <c:pt idx="22">
                  <c:v>0.78</c:v>
                </c:pt>
                <c:pt idx="23">
                  <c:v>0.79</c:v>
                </c:pt>
                <c:pt idx="24">
                  <c:v>0.8</c:v>
                </c:pt>
                <c:pt idx="25">
                  <c:v>0.81</c:v>
                </c:pt>
                <c:pt idx="26">
                  <c:v>0.81</c:v>
                </c:pt>
                <c:pt idx="27">
                  <c:v>0.82</c:v>
                </c:pt>
                <c:pt idx="28">
                  <c:v>0.82</c:v>
                </c:pt>
                <c:pt idx="29">
                  <c:v>0.83</c:v>
                </c:pt>
                <c:pt idx="30">
                  <c:v>0.83</c:v>
                </c:pt>
                <c:pt idx="31">
                  <c:v>0.84</c:v>
                </c:pt>
                <c:pt idx="32">
                  <c:v>0.84</c:v>
                </c:pt>
                <c:pt idx="33">
                  <c:v>0.84</c:v>
                </c:pt>
                <c:pt idx="34">
                  <c:v>0.85</c:v>
                </c:pt>
                <c:pt idx="35">
                  <c:v>0.85</c:v>
                </c:pt>
                <c:pt idx="36">
                  <c:v>0.85</c:v>
                </c:pt>
                <c:pt idx="37">
                  <c:v>0.85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205-4186-895A-B255193FA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D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PH" sz="1100" b="0" i="0" u="none" strike="noStrike">
                <a:solidFill>
                  <a:srgbClr val="1B3A5C"/>
                </a:solidFill>
                <a:latin typeface="Arial"/>
              </a:rPr>
              <a:t>Loss per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 cap="flat">
              <a:solidFill>
                <a:srgbClr val="0D1B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1B2A"/>
              </a:solidFill>
              <a:ln w="9525" cap="flat">
                <a:solidFill>
                  <a:srgbClr val="0D1B2A"/>
                </a:solidFill>
                <a:prstDash val="solid"/>
                <a:round/>
              </a:ln>
              <a:effectLst/>
            </c:spPr>
          </c:marker>
          <c:cat>
            <c:strRef>
              <c:f>Sheet1!$A$2:$A$39</c:f>
              <c:strCach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</c:strCache>
            </c:str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1.31</c:v>
                </c:pt>
                <c:pt idx="1">
                  <c:v>1.06</c:v>
                </c:pt>
                <c:pt idx="2">
                  <c:v>1.05</c:v>
                </c:pt>
                <c:pt idx="3">
                  <c:v>1.02</c:v>
                </c:pt>
                <c:pt idx="4">
                  <c:v>1.04</c:v>
                </c:pt>
                <c:pt idx="5">
                  <c:v>1.0349999999999999</c:v>
                </c:pt>
                <c:pt idx="6">
                  <c:v>1.03</c:v>
                </c:pt>
                <c:pt idx="7">
                  <c:v>1.02</c:v>
                </c:pt>
                <c:pt idx="8">
                  <c:v>1.01</c:v>
                </c:pt>
                <c:pt idx="9">
                  <c:v>0.98</c:v>
                </c:pt>
                <c:pt idx="10">
                  <c:v>0.95499999999999996</c:v>
                </c:pt>
                <c:pt idx="11">
                  <c:v>0.95</c:v>
                </c:pt>
                <c:pt idx="12">
                  <c:v>0.94799999999999995</c:v>
                </c:pt>
                <c:pt idx="13">
                  <c:v>0.94199999999999995</c:v>
                </c:pt>
                <c:pt idx="14">
                  <c:v>0.95</c:v>
                </c:pt>
                <c:pt idx="15">
                  <c:v>0.92</c:v>
                </c:pt>
                <c:pt idx="16">
                  <c:v>0.91</c:v>
                </c:pt>
                <c:pt idx="17">
                  <c:v>0.9</c:v>
                </c:pt>
                <c:pt idx="18">
                  <c:v>1.32</c:v>
                </c:pt>
                <c:pt idx="19">
                  <c:v>1.01</c:v>
                </c:pt>
                <c:pt idx="20">
                  <c:v>0.91</c:v>
                </c:pt>
                <c:pt idx="21">
                  <c:v>0.84</c:v>
                </c:pt>
                <c:pt idx="22">
                  <c:v>0.8</c:v>
                </c:pt>
                <c:pt idx="23">
                  <c:v>0.76</c:v>
                </c:pt>
                <c:pt idx="24">
                  <c:v>0.72</c:v>
                </c:pt>
                <c:pt idx="25">
                  <c:v>0.69</c:v>
                </c:pt>
                <c:pt idx="26">
                  <c:v>0.66</c:v>
                </c:pt>
                <c:pt idx="27">
                  <c:v>0.63</c:v>
                </c:pt>
                <c:pt idx="28">
                  <c:v>0.60499999999999998</c:v>
                </c:pt>
                <c:pt idx="29">
                  <c:v>0.58499999999999996</c:v>
                </c:pt>
                <c:pt idx="30">
                  <c:v>0.57499999999999996</c:v>
                </c:pt>
                <c:pt idx="31">
                  <c:v>0.54500000000000004</c:v>
                </c:pt>
                <c:pt idx="32">
                  <c:v>0.53</c:v>
                </c:pt>
                <c:pt idx="33">
                  <c:v>0.52</c:v>
                </c:pt>
                <c:pt idx="34">
                  <c:v>0.495</c:v>
                </c:pt>
                <c:pt idx="35">
                  <c:v>0.48499999999999999</c:v>
                </c:pt>
                <c:pt idx="36">
                  <c:v>0.47799999999999998</c:v>
                </c:pt>
                <c:pt idx="37">
                  <c:v>0.46200000000000002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588-4370-AC97-F2D73B8654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Sheet1!$A$2:$A$39</c:f>
              <c:strCach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</c:strCache>
            </c:strRef>
          </c:cat>
          <c:val>
            <c:numRef>
              <c:f>Sheet1!$C$2:$C$39</c:f>
              <c:numCache>
                <c:formatCode>General</c:formatCode>
                <c:ptCount val="38"/>
                <c:pt idx="0">
                  <c:v>0.9</c:v>
                </c:pt>
                <c:pt idx="1">
                  <c:v>0.86</c:v>
                </c:pt>
                <c:pt idx="2">
                  <c:v>0.84</c:v>
                </c:pt>
                <c:pt idx="3">
                  <c:v>0.82</c:v>
                </c:pt>
                <c:pt idx="4">
                  <c:v>0.82</c:v>
                </c:pt>
                <c:pt idx="5">
                  <c:v>0.83</c:v>
                </c:pt>
                <c:pt idx="6">
                  <c:v>0.86</c:v>
                </c:pt>
                <c:pt idx="7">
                  <c:v>0.87</c:v>
                </c:pt>
                <c:pt idx="8">
                  <c:v>0.82</c:v>
                </c:pt>
                <c:pt idx="9">
                  <c:v>0.79</c:v>
                </c:pt>
                <c:pt idx="10">
                  <c:v>0.87</c:v>
                </c:pt>
                <c:pt idx="11">
                  <c:v>0.77</c:v>
                </c:pt>
                <c:pt idx="12">
                  <c:v>0.85</c:v>
                </c:pt>
                <c:pt idx="13">
                  <c:v>0.77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0.84</c:v>
                </c:pt>
                <c:pt idx="19">
                  <c:v>0.75</c:v>
                </c:pt>
                <c:pt idx="20">
                  <c:v>0.71</c:v>
                </c:pt>
                <c:pt idx="21">
                  <c:v>0.67</c:v>
                </c:pt>
                <c:pt idx="22">
                  <c:v>0.64</c:v>
                </c:pt>
                <c:pt idx="23">
                  <c:v>0.61</c:v>
                </c:pt>
                <c:pt idx="24">
                  <c:v>0.57999999999999996</c:v>
                </c:pt>
                <c:pt idx="25">
                  <c:v>0.56000000000000005</c:v>
                </c:pt>
                <c:pt idx="26">
                  <c:v>0.54</c:v>
                </c:pt>
                <c:pt idx="27">
                  <c:v>0.53</c:v>
                </c:pt>
                <c:pt idx="28">
                  <c:v>0.52</c:v>
                </c:pt>
                <c:pt idx="29">
                  <c:v>0.505</c:v>
                </c:pt>
                <c:pt idx="30">
                  <c:v>0.495</c:v>
                </c:pt>
                <c:pt idx="31">
                  <c:v>0.49</c:v>
                </c:pt>
                <c:pt idx="32">
                  <c:v>0.47499999999999998</c:v>
                </c:pt>
                <c:pt idx="33">
                  <c:v>0.47</c:v>
                </c:pt>
                <c:pt idx="34">
                  <c:v>0.46</c:v>
                </c:pt>
                <c:pt idx="35">
                  <c:v>0.45500000000000002</c:v>
                </c:pt>
                <c:pt idx="36">
                  <c:v>0.45</c:v>
                </c:pt>
                <c:pt idx="37">
                  <c:v>0.435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588-4370-AC97-F2D73B8654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PH" sz="1100" b="0" i="0" u="none" strike="noStrike">
                <a:solidFill>
                  <a:srgbClr val="1B3A5C"/>
                </a:solidFill>
                <a:latin typeface="Arial"/>
              </a:rPr>
              <a:t>Train vs. Validation vs. Test Accuracy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8F-4F9B-8C15-6C218CDEE323}"/>
              </c:ext>
            </c:extLst>
          </c:dPt>
          <c:dPt>
            <c:idx val="1"/>
            <c:invertIfNegative val="0"/>
            <c:bubble3D val="0"/>
            <c:spPr>
              <a:solidFill>
                <a:srgbClr val="0096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8F-4F9B-8C15-6C218CDEE323}"/>
              </c:ext>
            </c:extLst>
          </c:dPt>
          <c:dPt>
            <c:idx val="2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8F-4F9B-8C15-6C218CDEE32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 Acc
(at best val epoch)</c:v>
                </c:pt>
                <c:pt idx="1">
                  <c:v>Best
Validation Acc</c:v>
                </c:pt>
                <c:pt idx="2">
                  <c:v>Test Acc
(held-out)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84.29</c:v>
                </c:pt>
                <c:pt idx="1">
                  <c:v>85.2</c:v>
                </c:pt>
                <c:pt idx="2">
                  <c:v>85.46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8F-4F9B-8C15-6C218CDEE32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D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774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75166-D267-DD67-92D1-8106D0E66C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9938" y="939800"/>
            <a:ext cx="1528762" cy="1352550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7CBD50C-E99D-E093-A847-F007CDB382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44875" y="939800"/>
            <a:ext cx="1528762" cy="1352550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A3C137A-6D4F-1C11-A8E5-3173194E2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19812" y="939800"/>
            <a:ext cx="1528762" cy="1352550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080B3F8-AF8F-7D59-858F-1787610842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94749" y="939800"/>
            <a:ext cx="1528762" cy="1352550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EEBBCBE-6786-6D0B-4F35-33716A507D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63242" y="2851150"/>
            <a:ext cx="1528762" cy="1352550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95160" y="0"/>
            <a:ext cx="214884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82880"/>
            <a:ext cx="1371600" cy="13716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011680"/>
            <a:ext cx="822960" cy="822960"/>
          </a:xfrm>
          <a:prstGeom prst="ellipse">
            <a:avLst/>
          </a:prstGeom>
          <a:solidFill>
            <a:srgbClr val="F4A832">
              <a:alpha val="28000"/>
            </a:srgbClr>
          </a:solidFill>
          <a:ln w="12700">
            <a:solidFill>
              <a:srgbClr val="F4A832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383280"/>
            <a:ext cx="1554480" cy="1554480"/>
          </a:xfrm>
          <a:prstGeom prst="ellipse">
            <a:avLst/>
          </a:prstGeom>
          <a:solidFill>
            <a:srgbClr val="1A5276">
              <a:alpha val="45000"/>
            </a:srgbClr>
          </a:solidFill>
          <a:ln w="12700">
            <a:solidFill>
              <a:srgbClr val="1A527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699516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56032"/>
            <a:ext cx="2834640" cy="310896"/>
          </a:xfrm>
          <a:prstGeom prst="rect">
            <a:avLst/>
          </a:prstGeom>
          <a:solidFill>
            <a:srgbClr val="0096B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56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CPE126-4  ·  Introduction to Artificial Intelligence  ·  Mapúa University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912" y="749808"/>
            <a:ext cx="6309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Adaptive Traffic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Systems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CNNs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438912" y="3200400"/>
            <a:ext cx="34747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E. Solis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12" y="37307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Mapúa University  ·  March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4160520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  ·   MobileNetV2   ·   Transfer Learning   ·   MIO-TCD Dataset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132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060704"/>
            <a:ext cx="3886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60704"/>
            <a:ext cx="64008" cy="3520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traffic management systems rely on static timers or basic inductive sensors that cannot adapt to real-time road conditions.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growing need for an accessible, vision-based vehicle classification system capable of accurately identifying different vehicle classes from low-resolution CCTV traffic camera imagery.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serves as a foundational component for dynamic, AI-driven adaptive traffic flow analysis and intelligent infrastructure management.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7132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60704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70432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2064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Explore Dataset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1335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analyze the MIO-TCD labeled dataset (~52,800 images, 11 vehicle classes)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1755648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865376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20640" y="1792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Augment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20640" y="2029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Normalize, resize, and augment image data to prevent overfitting during training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2450592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56032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Train CNN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20640" y="2724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MobileNetV2 transfer learning with two-stage frozen + fine-tune training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3145536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255264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20640" y="3182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20640" y="3419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accuracy, precision, recall, F1-score, and analyze the confusion matrix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3840480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950208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20640" y="3877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Real-World Use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20640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unseen CCTV images using the inference demo to confirm applicability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MIO-TCD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1783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749808"/>
            <a:ext cx="1783080" cy="91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5953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~52,800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0040" y="13716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749808"/>
            <a:ext cx="1783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0" y="749808"/>
            <a:ext cx="1783080" cy="9144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85953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86000" y="13716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847088"/>
            <a:ext cx="1783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847088"/>
            <a:ext cx="1783080" cy="914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5681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20040" y="2468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Resolution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1847088"/>
            <a:ext cx="1783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0" y="1847088"/>
            <a:ext cx="1783080" cy="91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95681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4.2×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286000" y="2468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Class Imbalance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4023360" cy="1719072"/>
          </a:xfrm>
          <a:prstGeom prst="rect">
            <a:avLst/>
          </a:prstGeom>
          <a:solidFill>
            <a:srgbClr val="EAF4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971800"/>
            <a:ext cx="4023360" cy="3108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9718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Dataset Challenges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" y="3319272"/>
            <a:ext cx="38221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Low-resolution CCTV crops — limited texture detail
•  Class imbalance: background (7,296) vs non-motorized (1,751)
•  Visual similarity — trucks, vans, pickups share silhouettes
•  Illumination variation — day / night CCTV footage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480560" y="694944"/>
          <a:ext cx="44805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End-to-End CNN Pipeline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1508760" cy="2651760"/>
          </a:xfrm>
          <a:prstGeom prst="rect">
            <a:avLst/>
          </a:prstGeom>
          <a:solidFill>
            <a:srgbClr val="1A4A6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863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338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1828800"/>
            <a:ext cx="1179576" cy="36576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01952"/>
            <a:ext cx="14173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MIO-TCD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52,800 images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classes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83080" y="2011680"/>
            <a:ext cx="219456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2536" y="749808"/>
            <a:ext cx="1508760" cy="2651760"/>
          </a:xfrm>
          <a:prstGeom prst="rect">
            <a:avLst/>
          </a:prstGeom>
          <a:solidFill>
            <a:srgbClr val="1B5E7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7863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02536" y="11338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67128" y="1828800"/>
            <a:ext cx="1179576" cy="36576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8256" y="1901952"/>
            <a:ext cx="14173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· Rotate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· Translate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11296" y="2011680"/>
            <a:ext cx="219456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749808"/>
            <a:ext cx="1508760" cy="26517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7863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30752" y="11338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95344" y="1828800"/>
            <a:ext cx="1179576" cy="36576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1901952"/>
            <a:ext cx="14173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39512" y="2011680"/>
            <a:ext cx="219456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8968" y="749808"/>
            <a:ext cx="1508760" cy="2651760"/>
          </a:xfrm>
          <a:prstGeom prst="rect">
            <a:avLst/>
          </a:prstGeom>
          <a:solidFill>
            <a:srgbClr val="0077A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8968" y="7863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58968" y="11338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HEAD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23560" y="1828800"/>
            <a:ext cx="1179576" cy="36576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1901952"/>
            <a:ext cx="14173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→ Drop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Dense(11)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67728" y="2011680"/>
            <a:ext cx="219456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87184" y="749808"/>
            <a:ext cx="1508760" cy="2651760"/>
          </a:xfrm>
          <a:prstGeom prst="rect">
            <a:avLst/>
          </a:prstGeom>
          <a:solidFill>
            <a:srgbClr val="1E8449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87184" y="7863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87184" y="11338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51776" y="1828800"/>
            <a:ext cx="1179576" cy="36576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32904" y="1901952"/>
            <a:ext cx="14173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11-Class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584448"/>
            <a:ext cx="8595360" cy="1133856"/>
          </a:xfrm>
          <a:prstGeom prst="rect">
            <a:avLst/>
          </a:prstGeom>
          <a:solidFill>
            <a:srgbClr val="111F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630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Training Strategy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3931920"/>
            <a:ext cx="3931920" cy="621792"/>
          </a:xfrm>
          <a:prstGeom prst="rect">
            <a:avLst/>
          </a:prstGeom>
          <a:solidFill>
            <a:srgbClr val="162A3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95020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Frozen Backbone  |  LR = 1e-3  |  Train classification head only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3931920"/>
            <a:ext cx="4251960" cy="621792"/>
          </a:xfrm>
          <a:prstGeom prst="rect">
            <a:avLst/>
          </a:prstGeom>
          <a:solidFill>
            <a:srgbClr val="162A3A"/>
          </a:solidFill>
          <a:ln w="12700">
            <a:solidFill>
              <a:srgbClr val="F4A8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950208"/>
            <a:ext cx="4069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Partial Fine-Tuning  |  LR = 1e-5  |  Last 30 backbone layers unfrozen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Training Strategy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92608" y="731520"/>
            <a:ext cx="404164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731520"/>
            <a:ext cx="4041648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73152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Frozen Backbone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188720"/>
            <a:ext cx="1170432" cy="329184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18872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27632" y="12070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 —  ALL layers FROZEN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1618488"/>
            <a:ext cx="1170432" cy="329184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1848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27632" y="16367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 →  Dropout(0.35)  →  Dense(11, softmax)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048256"/>
            <a:ext cx="1170432" cy="329184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04825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27632" y="20665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|  Learning Rate = 1e-3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478024"/>
            <a:ext cx="1170432" cy="329184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47802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27632" y="24963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 Crossentropy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2907792"/>
            <a:ext cx="1170432" cy="329184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0779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27632" y="29260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(EarlyStopping patience = 6)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3337560"/>
            <a:ext cx="1170432" cy="329184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33756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27632" y="33558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— boosts minority class gradient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3767328"/>
            <a:ext cx="1170432" cy="329184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76732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27632" y="37856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head before touching backbone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" y="4197096"/>
            <a:ext cx="1170432" cy="329184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19709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Freeze?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627632" y="42153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random head gradients from corrupting ImageNet features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731520"/>
            <a:ext cx="422452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731520"/>
            <a:ext cx="4224528" cy="3657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73152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Partial Fine-Tuning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1188720"/>
            <a:ext cx="1170432" cy="329184"/>
          </a:xfrm>
          <a:prstGeom prst="rect">
            <a:avLst/>
          </a:prstGeom>
          <a:solidFill>
            <a:srgbClr val="DFFAF0"/>
          </a:solidFill>
          <a:ln w="12700">
            <a:solidFill>
              <a:srgbClr val="DFF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18872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52744" y="120700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layers UNFROZEN  (fine-tuned)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1618488"/>
            <a:ext cx="1170432" cy="329184"/>
          </a:xfrm>
          <a:prstGeom prst="rect">
            <a:avLst/>
          </a:prstGeom>
          <a:solidFill>
            <a:srgbClr val="DFFAF0"/>
          </a:solidFill>
          <a:ln w="12700">
            <a:solidFill>
              <a:srgbClr val="DFF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161848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52744" y="163677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training=False  —  preserves ImageNet BN stats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2048256"/>
            <a:ext cx="1170432" cy="329184"/>
          </a:xfrm>
          <a:prstGeom prst="rect">
            <a:avLst/>
          </a:prstGeom>
          <a:solidFill>
            <a:srgbClr val="DFFAF0"/>
          </a:solidFill>
          <a:ln w="12700">
            <a:solidFill>
              <a:srgbClr val="DFFA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204825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52744" y="206654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|  Learning Rate = 1e-5  (100× smaller)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2478024"/>
            <a:ext cx="1170432" cy="329184"/>
          </a:xfrm>
          <a:prstGeom prst="rect">
            <a:avLst/>
          </a:prstGeom>
          <a:solidFill>
            <a:srgbClr val="DFFAF0"/>
          </a:solidFill>
          <a:ln w="12700">
            <a:solidFill>
              <a:srgbClr val="DFFA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247802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952744" y="24963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 Crossentropy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9160" y="2907792"/>
            <a:ext cx="1170432" cy="329184"/>
          </a:xfrm>
          <a:prstGeom prst="rect">
            <a:avLst/>
          </a:prstGeom>
          <a:solidFill>
            <a:srgbClr val="DFFAF0"/>
          </a:solidFill>
          <a:ln w="12700">
            <a:solidFill>
              <a:srgbClr val="DFFA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290779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52744" y="29260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(EarlyStopping patience = 6)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09160" y="3337560"/>
            <a:ext cx="1170432" cy="329184"/>
          </a:xfrm>
          <a:prstGeom prst="rect">
            <a:avLst/>
          </a:prstGeom>
          <a:solidFill>
            <a:srgbClr val="DFFAF0"/>
          </a:solidFill>
          <a:ln w="12700">
            <a:solidFill>
              <a:srgbClr val="DFFA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333756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952744" y="33558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balanced weights as Stage 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9160" y="3767328"/>
            <a:ext cx="1170432" cy="329184"/>
          </a:xfrm>
          <a:prstGeom prst="rect">
            <a:avLst/>
          </a:prstGeom>
          <a:solidFill>
            <a:srgbClr val="DFFAF0"/>
          </a:solidFill>
          <a:ln w="12700">
            <a:solidFill>
              <a:srgbClr val="DFFA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376732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952744" y="378561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high-level features to vehicle imagery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09160" y="4197096"/>
            <a:ext cx="1170432" cy="329184"/>
          </a:xfrm>
          <a:prstGeom prst="rect">
            <a:avLst/>
          </a:prstGeom>
          <a:solidFill>
            <a:srgbClr val="DFFAF0"/>
          </a:solidFill>
          <a:ln w="12700">
            <a:solidFill>
              <a:srgbClr val="DFFA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9160" y="419709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LR?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952744" y="42153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catastrophic forgetting of ImageNet weights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Anti-Overfitting Techniques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92608" y="749808"/>
            <a:ext cx="26700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749808"/>
            <a:ext cx="2670048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74980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188720"/>
            <a:ext cx="24871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flip, ±14° rotation,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±10% zoom, ±10% translation,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±15% contrast — applied inside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(auto-off at inference)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6700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49808"/>
            <a:ext cx="2670048" cy="38404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74980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 (35%)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188720"/>
            <a:ext cx="24871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zeros 35% of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per training step.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redundant feature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 the head layer.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08192" y="749808"/>
            <a:ext cx="26700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749808"/>
            <a:ext cx="2670048" cy="384048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74980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1188720"/>
            <a:ext cx="24871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λ = 1e-4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Dense output layer.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weights;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overconfident boundaries.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2926080"/>
            <a:ext cx="26700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926080"/>
            <a:ext cx="2670048" cy="38404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92608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364992"/>
            <a:ext cx="24871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weights via sklearn.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gradient contribution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minority classes (bicycle,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motorcycle, non-motorized).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700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2670048" cy="384048"/>
          </a:xfrm>
          <a:prstGeom prst="rect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92608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364992"/>
            <a:ext cx="24871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val_loss.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6 epochs.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best weights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on trigger.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8192" y="2926080"/>
            <a:ext cx="26700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08192" y="2926080"/>
            <a:ext cx="2670048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292608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9632" y="3364992"/>
            <a:ext cx="24871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val_loss.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LR (factor = 0.5)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plateau epochs.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LR floor = 1e-7.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 — Stage 1 + Stage 2 Combined History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912194882"/>
              </p:ext>
            </p:extLst>
          </p:nvPr>
        </p:nvGraphicFramePr>
        <p:xfrm>
          <a:off x="292608" y="694944"/>
          <a:ext cx="4251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3153358233"/>
              </p:ext>
            </p:extLst>
          </p:nvPr>
        </p:nvGraphicFramePr>
        <p:xfrm>
          <a:off x="4599432" y="694944"/>
          <a:ext cx="4251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292608" y="4114800"/>
            <a:ext cx="8558784" cy="603504"/>
          </a:xfrm>
          <a:prstGeom prst="rect">
            <a:avLst/>
          </a:prstGeom>
          <a:solidFill>
            <a:srgbClr val="EAF4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8912" y="4114800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(Epochs 1–18, frozen):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Head-only training. Val accuracy rises and plateaus at ~73%.     </a:t>
            </a:r>
            <a:r>
              <a:rPr lang="en-US" sz="9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(Epochs 18–38, fine-tune):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layers unfrozen at LR=1e-5. After an initial "spike" in loss at Epoch 19 (due to weight updates), Val accuracy climbs steadily to ~85%.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— Test Set Results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92608" y="713232"/>
            <a:ext cx="19568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713232"/>
            <a:ext cx="1956816" cy="91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82296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85.46%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2608" y="13533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713232"/>
            <a:ext cx="19568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713232"/>
            <a:ext cx="1956816" cy="914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82296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0.8365 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13533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5152" y="713232"/>
            <a:ext cx="19568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713232"/>
            <a:ext cx="1956816" cy="9144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82296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0.8425 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45152" y="13533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21424" y="713232"/>
            <a:ext cx="19568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713232"/>
            <a:ext cx="1956816" cy="914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82296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0.8355 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21424" y="13533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" y="1810512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Report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531357"/>
              </p:ext>
            </p:extLst>
          </p:nvPr>
        </p:nvGraphicFramePr>
        <p:xfrm>
          <a:off x="292608" y="2103120"/>
          <a:ext cx="8558784" cy="263347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4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articulated_truck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0.8278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0.7779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profile; distinct shape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0.9352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0.9561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vehicle, easy to distinguish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bicycle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0.8280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Low-res confusion with motorcycle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0.9229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0.9229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distinctive silhouette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0.8973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class; stable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motorcycle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0.8739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non-rare class; bicycle overlap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non-motorized_veh.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0.5376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0.7605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0.6299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Rarest class; hardest to classify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0.9186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0.9010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0.9097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Upright figure; mostly distinct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pickup_truck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0.8445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0.8919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0.8676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 with work_van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single_unit_truck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0.6940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0.7135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 with articulated_truck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work_van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0.7763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0.8247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Boxy shape overlaps trucks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F4A832"/>
          </a:solidFill>
          <a:ln w="12700">
            <a:solidFill>
              <a:srgbClr val="F4A8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Demo — Real-World CCTV Classification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6217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loaded in inference_demo.ipynb — randomly selects 5 unseen CCTV images and classifies them without any retraining.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005840"/>
            <a:ext cx="150876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10" name="Text 8"/>
          <p:cNvSpPr/>
          <p:nvPr/>
        </p:nvSpPr>
        <p:spPr>
          <a:xfrm>
            <a:off x="292608" y="100584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2450592"/>
            <a:ext cx="150876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2852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700" dirty="0">
              <a:solidFill>
                <a:srgbClr val="00B05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" y="3246120"/>
            <a:ext cx="868680" cy="237744"/>
          </a:xfrm>
          <a:prstGeom prst="rect">
            <a:avLst/>
          </a:prstGeom>
          <a:solidFill>
            <a:srgbClr val="1E8449">
              <a:alpha val="35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2461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2608" y="3529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</a:t>
            </a:r>
            <a:r>
              <a:rPr lang="en-US" sz="75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single_unit_truck</a:t>
            </a: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2.1%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20824" y="1005840"/>
            <a:ext cx="150876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0824" y="100584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20824" y="2450592"/>
            <a:ext cx="150876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0824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20824" y="2852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</a:t>
            </a:r>
            <a:endParaRPr lang="en-US" sz="1700" dirty="0">
              <a:solidFill>
                <a:srgbClr val="00B05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340864" y="3246120"/>
            <a:ext cx="868680" cy="237744"/>
          </a:xfrm>
          <a:prstGeom prst="rect">
            <a:avLst/>
          </a:prstGeom>
          <a:solidFill>
            <a:srgbClr val="1E8449">
              <a:alpha val="35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32461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020824" y="3529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</a:t>
            </a:r>
            <a:r>
              <a:rPr lang="en-US" sz="75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pickup_truck</a:t>
            </a: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4.3%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49040" y="1005840"/>
            <a:ext cx="150876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100584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0" y="2450592"/>
            <a:ext cx="15087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van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49040" y="2852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069080" y="3246120"/>
            <a:ext cx="868680" cy="237744"/>
          </a:xfrm>
          <a:prstGeom prst="rect">
            <a:avLst/>
          </a:prstGeom>
          <a:solidFill>
            <a:srgbClr val="E67E22">
              <a:alpha val="3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69080" y="32461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confidence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49040" y="3529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</a:t>
            </a:r>
            <a:r>
              <a:rPr lang="en-US" sz="75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single_unit_truck</a:t>
            </a: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14.2%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77256" y="1005840"/>
            <a:ext cx="150876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77256" y="100584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77256" y="2450592"/>
            <a:ext cx="150876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77256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77256" y="2852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700" dirty="0">
              <a:solidFill>
                <a:srgbClr val="00B050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797296" y="3246120"/>
            <a:ext cx="868680" cy="237744"/>
          </a:xfrm>
          <a:prstGeom prst="rect">
            <a:avLst/>
          </a:prstGeom>
          <a:solidFill>
            <a:srgbClr val="1E8449">
              <a:alpha val="35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32461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477256" y="3529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bicycle    6.8%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205472" y="1005840"/>
            <a:ext cx="150876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100584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05472" y="2450592"/>
            <a:ext cx="15087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05472" y="2852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66.5%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7525512" y="3246120"/>
            <a:ext cx="868680" cy="237744"/>
          </a:xfrm>
          <a:prstGeom prst="rect">
            <a:avLst/>
          </a:prstGeom>
          <a:solidFill>
            <a:srgbClr val="E67E22">
              <a:alpha val="3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25512" y="32461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confidence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205472" y="3529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</a:t>
            </a:r>
            <a:r>
              <a:rPr lang="en-US" sz="75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pickup_truck</a:t>
            </a: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18.5%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92608" y="3840480"/>
            <a:ext cx="8558784" cy="932688"/>
          </a:xfrm>
          <a:prstGeom prst="rect">
            <a:avLst/>
          </a:prstGeom>
          <a:solidFill>
            <a:srgbClr val="111F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3858768"/>
            <a:ext cx="8229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inference_demo.ipynb  </a:t>
            </a: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Loads saved model  ·  Scans test folder  ·  Selects N random images  ·  Preprocesses to 128×128  ·  Returns Top-3 per image
</a:t>
            </a:r>
            <a:r>
              <a:rPr lang="en-US" sz="95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 single cell for a completely new batch — no kernel restart, no retraining needed.</a:t>
            </a:r>
            <a:endParaRPr lang="en-US" sz="95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1CB0457F-6A9E-C835-BC1C-BBCD82ECB7F2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538" t="19986" r="80313" b="17362"/>
          <a:stretch>
            <a:fillRect/>
          </a:stretch>
        </p:blipFill>
        <p:spPr>
          <a:xfrm>
            <a:off x="292968" y="1003950"/>
            <a:ext cx="1508400" cy="14184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5428467-0F1E-9E36-BFEC-B119BA46D9CB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20499" t="35194" r="60536" b="32943"/>
          <a:stretch>
            <a:fillRect/>
          </a:stretch>
        </p:blipFill>
        <p:spPr>
          <a:xfrm>
            <a:off x="2020824" y="1005840"/>
            <a:ext cx="1508400" cy="14184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8B2E8316-556B-C40C-F3E9-5FBC5AA03AFA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40996" t="11585" r="40897" b="9736"/>
          <a:stretch>
            <a:fillRect/>
          </a:stretch>
        </p:blipFill>
        <p:spPr>
          <a:xfrm>
            <a:off x="3748680" y="1005840"/>
            <a:ext cx="1508400" cy="14184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7663E6D-D1CF-2699-8138-26707F69FE11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60533" t="12195" r="20600" b="9736"/>
          <a:stretch>
            <a:fillRect/>
          </a:stretch>
        </p:blipFill>
        <p:spPr>
          <a:xfrm>
            <a:off x="5476176" y="1004760"/>
            <a:ext cx="1508400" cy="141840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6B6E2DF8-C35D-FE83-3031-A0AA5EFCCB00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80467" t="32861" r="866" b="31056"/>
          <a:stretch>
            <a:fillRect/>
          </a:stretch>
        </p:blipFill>
        <p:spPr>
          <a:xfrm>
            <a:off x="7205832" y="1004220"/>
            <a:ext cx="1508400" cy="141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Analysis — Overfitting / Underfitting Diagnosis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4184778066"/>
              </p:ext>
            </p:extLst>
          </p:nvPr>
        </p:nvGraphicFramePr>
        <p:xfrm>
          <a:off x="292608" y="731520"/>
          <a:ext cx="4251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292608" y="402336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Train–Val gap: ~0.92%  (threshold &lt; 10%)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731520"/>
            <a:ext cx="4133088" cy="1389888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731520"/>
            <a:ext cx="4133088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73152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WELL-GENERALIZED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1115568"/>
            <a:ext cx="395020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Train–Val gap of ~0.92% is within healthy range.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(85.46%) is consistent with validation (84.29%).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generalizes reliably to unseen CCTV images.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2267712"/>
            <a:ext cx="4133088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006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Generalization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00600" y="2679192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265176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training — stable convergence, no catastrophic forgetting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00600" y="3063240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303580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— improved recall on bicycle, motorcycle, non-motorized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800600" y="3447288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3419856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CCTV-realistic augmentation — generalized without underfitting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00600" y="3831336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380390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L2 regularization — prevented head overfitting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800600" y="4215384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0" y="4187952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— locked in the best generalization checkpoint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F4A832"/>
          </a:solidFill>
          <a:ln w="12700">
            <a:solidFill>
              <a:srgbClr val="F4A8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Improvements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92608" y="713232"/>
            <a:ext cx="4041648" cy="34747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1323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152144"/>
            <a:ext cx="4041648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887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11887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85.46% on completely held-out MIO-TCD test 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" y="1719072"/>
            <a:ext cx="4041648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556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17556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0.8365 — strong performance across all 11 classes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286000"/>
            <a:ext cx="4041648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225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23225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+ ImageNet: fast, stable convergence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" y="2852928"/>
            <a:ext cx="4041648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895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28895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catastrophic forgetting; clean curves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" y="3419856"/>
            <a:ext cx="4041648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pair: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34564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unit truck ↔ articulated truck at CCTV low resolution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" y="3986784"/>
            <a:ext cx="4041648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4023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0.92% train–val gap — no significant overfitting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713232"/>
            <a:ext cx="4206240" cy="347472"/>
          </a:xfrm>
          <a:prstGeom prst="rect">
            <a:avLst/>
          </a:prstGeom>
          <a:solidFill>
            <a:srgbClr val="F4A832"/>
          </a:solidFill>
          <a:ln w="12700">
            <a:solidFill>
              <a:srgbClr val="F4A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713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1152144"/>
            <a:ext cx="4206240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2C1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18872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Input: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71032" y="118872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160×192 px — may recover lost fine detail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1719072"/>
            <a:ext cx="4206240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2C1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7556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71032" y="17556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 for marginal accuracy gain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286000"/>
            <a:ext cx="4206240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2C1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32257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71032" y="232257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MobileNetV2 models on different random seeds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2852928"/>
            <a:ext cx="4206240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2C1F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88950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71032" y="28895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smoothing=0.1 reduces overconfident predictions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3419856"/>
            <a:ext cx="4206240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2C1F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4564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71032" y="345643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what the model attends to per image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3986784"/>
            <a:ext cx="4206240" cy="475488"/>
          </a:xfrm>
          <a:prstGeom prst="rect">
            <a:avLst/>
          </a:prstGeom>
          <a:solidFill>
            <a:srgbClr val="111F2E"/>
          </a:solidFill>
          <a:ln w="12700">
            <a:solidFill>
              <a:srgbClr val="2C1F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40233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Deploy: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71032" y="402336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.tflite for edge / Raspberry Pi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9472"/>
            <a:ext cx="7132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for Adaptive Traffic Control  ·  CPE126-4  ·  Mapúa University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92608" y="713232"/>
            <a:ext cx="8558784" cy="493776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3152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731520"/>
            <a:ext cx="7936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Luo, Z. et al. (2018). MIO-TCD: A new benchmark dataset for vehicle classification and localization. IEEE Transactions on Image Processing, 27(10), 5129–5141.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" y="1298448"/>
            <a:ext cx="8558784" cy="493776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31673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1316736"/>
            <a:ext cx="7936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Sandler, M. et al. (2018). MobileNetV2: Inverted residuals and linear bottlenecks. Proceedings of the IEEE CVPR 2018.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" y="1883664"/>
            <a:ext cx="8558784" cy="493776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0195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1901952"/>
            <a:ext cx="7936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Yosinski, J. et al. (2014). How transferable are features in deep neural networks? Advances in Neural Information Processing Systems, 27.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2468880"/>
            <a:ext cx="8558784" cy="493776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87168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2487168"/>
            <a:ext cx="7936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 (2024). Transfer learning and fine-tuning guide. https://www.tensorflow.org/tutorials/images/transfer_learning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3054096"/>
            <a:ext cx="8558784" cy="493776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72384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3072384"/>
            <a:ext cx="7936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Chollet, F. (2021). Deep Learning with Python, 2nd Edition. Manning Publications.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3639312"/>
            <a:ext cx="8558784" cy="493776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65760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3657600"/>
            <a:ext cx="7936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— MIO-TCD 50,000 Images Classification. https://www.kaggle.com/datasets/yash88600/miotcd-dataset-50000-imagesclassification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2608" y="4224528"/>
            <a:ext cx="8558784" cy="493776"/>
          </a:xfrm>
          <a:prstGeom prst="rect">
            <a:avLst/>
          </a:prstGeom>
          <a:solidFill>
            <a:srgbClr val="111F2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4281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" y="4242816"/>
            <a:ext cx="7936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Scikit-learn. (2024). compute_class_weight. https://scikit-learn.org/stable/modules/generated/sklearn.utils.class_weight.compute_class_weight.html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1633</Words>
  <Application>Microsoft Office PowerPoint</Application>
  <PresentationFormat>On-screen Show (16:9)</PresentationFormat>
  <Paragraphs>351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Mapúa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Classification for Adaptive Traffic Control Systems Using CNNs</dc:title>
  <dc:subject>PptxGenJS Presentation</dc:subject>
  <dc:creator>Gilbert E. Solis</dc:creator>
  <cp:lastModifiedBy>Gilbert Solis</cp:lastModifiedBy>
  <cp:revision>10</cp:revision>
  <dcterms:created xsi:type="dcterms:W3CDTF">2026-03-13T12:54:37Z</dcterms:created>
  <dcterms:modified xsi:type="dcterms:W3CDTF">2026-03-13T17:44:47Z</dcterms:modified>
</cp:coreProperties>
</file>